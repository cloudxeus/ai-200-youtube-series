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 (MS)" panose="020B0604020202020204" charset="0"/>
      <p:regular r:id="rId10"/>
    </p:embeddedFont>
    <p:embeddedFont>
      <p:font typeface="Montserrat Bold" panose="00000800000000000000" pitchFamily="2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101" y="4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302765" y="2021085"/>
            <a:ext cx="9637647" cy="2759202"/>
          </a:xfrm>
          <a:custGeom>
            <a:avLst/>
            <a:gdLst/>
            <a:ahLst/>
            <a:cxnLst/>
            <a:rect l="l" t="t" r="r" b="b"/>
            <a:pathLst>
              <a:path w="9637647" h="2759202">
                <a:moveTo>
                  <a:pt x="0" y="0"/>
                </a:moveTo>
                <a:lnTo>
                  <a:pt x="9637647" y="0"/>
                </a:lnTo>
                <a:lnTo>
                  <a:pt x="9637647" y="2759202"/>
                </a:lnTo>
                <a:lnTo>
                  <a:pt x="0" y="2759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8408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/>
          <p:cNvSpPr/>
          <p:nvPr/>
        </p:nvSpPr>
        <p:spPr>
          <a:xfrm>
            <a:off x="-86350" y="0"/>
            <a:ext cx="18374350" cy="10335572"/>
          </a:xfrm>
          <a:custGeom>
            <a:avLst/>
            <a:gdLst/>
            <a:ahLst/>
            <a:cxnLst/>
            <a:rect l="l" t="t" r="r" b="b"/>
            <a:pathLst>
              <a:path w="18374350" h="10335572">
                <a:moveTo>
                  <a:pt x="0" y="0"/>
                </a:moveTo>
                <a:lnTo>
                  <a:pt x="18374350" y="0"/>
                </a:lnTo>
                <a:lnTo>
                  <a:pt x="18374350" y="10335572"/>
                </a:lnTo>
                <a:lnTo>
                  <a:pt x="0" y="1033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84836" y="254773"/>
            <a:ext cx="1320036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Azure Key Vault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7694" y="1545631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/>
          <p:cNvSpPr txBox="1"/>
          <p:nvPr/>
        </p:nvSpPr>
        <p:spPr>
          <a:xfrm>
            <a:off x="10142984" y="1054100"/>
            <a:ext cx="7575203" cy="835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Azure Key Vault is a managed service for securely storing sensitive application data, including secrets, cryptographic keys, and certificates.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Secrets are typically values such as passwords, API keys, tokens, and connection strings, while keys are used for cryptographic operations such as encryption and signing.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Applications can authenticate to Key Vault using Microsoft Entra ID, and access can be controlled using Azure RBAC or Key Vault access policies.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Keeping sensitive values in Key Vault separates secrets from application code and configuration, making them easier to secure, audit, and update independently.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7694" y="1483445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TextBox 13"/>
          <p:cNvSpPr txBox="1"/>
          <p:nvPr/>
        </p:nvSpPr>
        <p:spPr>
          <a:xfrm>
            <a:off x="2362716" y="219473"/>
            <a:ext cx="1320036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Secret Versions and Rotation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2984" y="1054100"/>
            <a:ext cx="7575203" cy="748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Key Vault automatically versions secrets. Setting a new value for an existing secret name creates a new version, while previous versions remain available.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 secret can be retrieved using a specific version, or the version can be omitted to retrieve the latest version.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Versioning makes it possible to rotate credentials without changing the logical secret name used by the application.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Secrets that cannot be eliminated should be rotated regularly to reduce the impact if a credential is exposed; automation can combine Key Vault events, Event Grid, and Azure Functions to perform rotation.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7694" y="1483445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TextBox 13"/>
          <p:cNvSpPr txBox="1"/>
          <p:nvPr/>
        </p:nvSpPr>
        <p:spPr>
          <a:xfrm>
            <a:off x="2362716" y="219473"/>
            <a:ext cx="1320036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Azure App Configuration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2984" y="1054100"/>
            <a:ext cx="7575203" cy="748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Azure App Configuration is a managed service for centrally storing application settings and feature configuration.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useful for distributed applications where multiple services, containers, or application instances need consistent configuration.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Configuration is stored separately from application binaries, allowing settings to be changed without rebuilding or redeploying the application when the application supports configuration refresh.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Applications can authenticate to App Configuration using Microsoft Entra ID and managed identities, avoiding credentials embedded in application code.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6593" y="1984635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89" y="0"/>
                </a:lnTo>
                <a:lnTo>
                  <a:pt x="10075289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TextBox 13"/>
          <p:cNvSpPr txBox="1"/>
          <p:nvPr/>
        </p:nvSpPr>
        <p:spPr>
          <a:xfrm>
            <a:off x="2362716" y="219473"/>
            <a:ext cx="1320036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Key-Value Pairs, Labels, Key Vault References and Feature Flags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1882" y="1787576"/>
            <a:ext cx="7575203" cy="835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App Configuration stores settings as key-value pairs; keys can use conventions such as </a:t>
            </a:r>
            <a:r>
              <a:rPr lang="en-US" sz="2499" dirty="0" err="1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AppName:Service:Setting</a:t>
            </a: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 to logically organize application configuration.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Labels let the same key have different values, making them useful for environments such as Development, Test, and Production.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 Key Vault reference stores a reference to a Key Vault secret rather than the secret itself. The application then retrieves the actual secret from Key Vault using its own identity and permissions.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flags allow functionality to be enabled or disabled without redeploying application code, supporting controlled feature rollout and operational switches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6593" y="1678431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89" y="0"/>
                </a:lnTo>
                <a:lnTo>
                  <a:pt x="1007528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TextBox 13"/>
          <p:cNvSpPr txBox="1"/>
          <p:nvPr/>
        </p:nvSpPr>
        <p:spPr>
          <a:xfrm>
            <a:off x="2362716" y="219473"/>
            <a:ext cx="1320036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Azure Monitor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1882" y="1787576"/>
            <a:ext cx="7575203" cy="791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Azure Monitor is Azure’s centralized observability platform for collecting, analyzing, and responding to telemetry from applications, Azure resources, and hybrid environments.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It brings together metrics, logs, traces, and events so you can understand both infrastructure health and application behavior.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Azure Monitor supports dashboards, workbooks, alerts, and automated actions, helping teams detect problems before they significantly affect users.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Metrics are useful for fast numerical monitoring, while logs and traces provide the deeper detail needed for troubleshooting and root-cause analysis.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4484" y="1573177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89" y="0"/>
                </a:lnTo>
                <a:lnTo>
                  <a:pt x="10075289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TextBox 13"/>
          <p:cNvSpPr txBox="1"/>
          <p:nvPr/>
        </p:nvSpPr>
        <p:spPr>
          <a:xfrm>
            <a:off x="2362716" y="219473"/>
            <a:ext cx="1320036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 Analytics Workspace and KQL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1882" y="1787576"/>
            <a:ext cx="7575203" cy="704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 Log Analytics workspace is the central data store for Azure Monitor log and trace data collected from Azure, non-Azure resources, and applications.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Data is organized into tables, allowing telemetry such as requests, dependencies, exceptions, and resource logs to be queried and correlated.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Log Analytics is the Azure portal experience used to explore this data interactively and to create and test log queries.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Azure Monitor Logs uses Kusto Query Language — KQL to filter, sort, summarize, aggregate, and correlate telemetry.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3158" y="9060131"/>
            <a:ext cx="2015169" cy="2015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7B6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5559421" y="10428713"/>
            <a:ext cx="4016517" cy="2008259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  <a:ln w="19050" cap="sq">
              <a:solidFill>
                <a:srgbClr val="FFC70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6441780" y="-443110"/>
            <a:ext cx="1988740" cy="1988740"/>
          </a:xfrm>
          <a:custGeom>
            <a:avLst/>
            <a:gdLst/>
            <a:ahLst/>
            <a:cxnLst/>
            <a:rect l="l" t="t" r="r" b="b"/>
            <a:pathLst>
              <a:path w="1988740" h="1988740">
                <a:moveTo>
                  <a:pt x="0" y="0"/>
                </a:moveTo>
                <a:lnTo>
                  <a:pt x="1988740" y="0"/>
                </a:lnTo>
                <a:lnTo>
                  <a:pt x="1988740" y="1988741"/>
                </a:lnTo>
                <a:lnTo>
                  <a:pt x="0" y="1988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 rot="5400000">
            <a:off x="-543158" y="-1013590"/>
            <a:ext cx="2027179" cy="2027179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ln w="38100" cap="sq">
              <a:solidFill>
                <a:srgbClr val="2A2A2B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9842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6593" y="1678431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89" y="0"/>
                </a:lnTo>
                <a:lnTo>
                  <a:pt x="1007528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3" name="TextBox 13"/>
          <p:cNvSpPr txBox="1"/>
          <p:nvPr/>
        </p:nvSpPr>
        <p:spPr>
          <a:xfrm>
            <a:off x="2362716" y="219473"/>
            <a:ext cx="14651022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20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Insights and OpenTelemetry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1882" y="1787576"/>
            <a:ext cx="7575203" cy="704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 Insights is the application-performance monitoring capability of Azure Monitor, giving developers visibility into requests, dependencies, exceptions, performance, and user-facing application behavior.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OpenTelemetry</a:t>
            </a: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 is an open-source observability standard for collecting telemetry such as traces, metrics, and logs without tying application instrumentation to a single vendor. 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OpenTelemetry</a:t>
            </a:r>
            <a:r>
              <a:rPr lang="en-US" sz="2499" dirty="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 can capture distributed traces across multiple services, making it possible to follow one request as it moves through APIs, databases, queues, and other dependencies.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0202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697</Words>
  <Application>Microsoft Office PowerPoint</Application>
  <PresentationFormat>Custom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 Bold</vt:lpstr>
      <vt:lpstr>Arial</vt:lpstr>
      <vt:lpstr>Calibri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 Secure, monitor, and troubleshoot Azure solutions</dc:title>
  <cp:lastModifiedBy>Alan Rodrigues</cp:lastModifiedBy>
  <cp:revision>3</cp:revision>
  <dcterms:created xsi:type="dcterms:W3CDTF">2006-08-16T00:00:00Z</dcterms:created>
  <dcterms:modified xsi:type="dcterms:W3CDTF">2026-09-22T09:37:44Z</dcterms:modified>
  <dc:identifier>DAHViiN_ogw</dc:identifier>
</cp:coreProperties>
</file>