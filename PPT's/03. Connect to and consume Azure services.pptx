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Calibri (MS)" panose="020B0604020202020204" charset="0"/>
      <p:regular r:id="rId19"/>
    </p:embeddedFont>
    <p:embeddedFont>
      <p:font typeface="Montserrat Bold" panose="00000800000000000000" pitchFamily="2" charset="0"/>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7" d="100"/>
          <a:sy n="67" d="100"/>
        </p:scale>
        <p:origin x="101" y="4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sp>
        <p:nvSpPr>
          <p:cNvPr id="5" name="Freeform 5"/>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6" name="Group 6"/>
          <p:cNvGrpSpPr/>
          <p:nvPr/>
        </p:nvGrpSpPr>
        <p:grpSpPr>
          <a:xfrm rot="5400000">
            <a:off x="-543158" y="-1013590"/>
            <a:ext cx="2027179" cy="2027179"/>
            <a:chOff x="0" y="0"/>
            <a:chExt cx="558800" cy="558800"/>
          </a:xfrm>
        </p:grpSpPr>
        <p:sp>
          <p:nvSpPr>
            <p:cNvPr id="7" name="Freeform 7"/>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8" name="TextBox 8"/>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9" name="Freeform 9"/>
          <p:cNvSpPr/>
          <p:nvPr/>
        </p:nvSpPr>
        <p:spPr>
          <a:xfrm>
            <a:off x="-302765" y="2021085"/>
            <a:ext cx="9637647" cy="2759202"/>
          </a:xfrm>
          <a:custGeom>
            <a:avLst/>
            <a:gdLst/>
            <a:ahLst/>
            <a:cxnLst/>
            <a:rect l="l" t="t" r="r" b="b"/>
            <a:pathLst>
              <a:path w="9637647" h="2759202">
                <a:moveTo>
                  <a:pt x="0" y="0"/>
                </a:moveTo>
                <a:lnTo>
                  <a:pt x="9637647" y="0"/>
                </a:lnTo>
                <a:lnTo>
                  <a:pt x="9637647" y="2759202"/>
                </a:lnTo>
                <a:lnTo>
                  <a:pt x="0" y="2759202"/>
                </a:lnTo>
                <a:lnTo>
                  <a:pt x="0" y="0"/>
                </a:lnTo>
                <a:close/>
              </a:path>
            </a:pathLst>
          </a:custGeom>
          <a:blipFill>
            <a:blip r:embed="rId3"/>
            <a:stretch>
              <a:fillRect r="-68408"/>
            </a:stretch>
          </a:blipFill>
        </p:spPr>
        <p:txBody>
          <a:bodyPr/>
          <a:lstStyle/>
          <a:p>
            <a:endParaRPr lang="en-AE"/>
          </a:p>
        </p:txBody>
      </p:sp>
      <p:pic>
        <p:nvPicPr>
          <p:cNvPr id="12" name="Picture 11">
            <a:extLst>
              <a:ext uri="{FF2B5EF4-FFF2-40B4-BE49-F238E27FC236}">
                <a16:creationId xmlns:a16="http://schemas.microsoft.com/office/drawing/2014/main" id="{2F69D343-1F53-B29E-3C0A-575A253E61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4279"/>
            <a:ext cx="18430520" cy="104612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3884836" y="254773"/>
            <a:ext cx="13200369"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What are Azure Functions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213411" y="2320360"/>
            <a:ext cx="9929573" cy="5630412"/>
          </a:xfrm>
          <a:custGeom>
            <a:avLst/>
            <a:gdLst/>
            <a:ahLst/>
            <a:cxnLst/>
            <a:rect l="l" t="t" r="r" b="b"/>
            <a:pathLst>
              <a:path w="9929573" h="5630412">
                <a:moveTo>
                  <a:pt x="0" y="0"/>
                </a:moveTo>
                <a:lnTo>
                  <a:pt x="9929573" y="0"/>
                </a:lnTo>
                <a:lnTo>
                  <a:pt x="9929573" y="5630412"/>
                </a:lnTo>
                <a:lnTo>
                  <a:pt x="0" y="5630412"/>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42984" y="1054100"/>
            <a:ext cx="7575203" cy="87947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Azure Functions is Azure’s serverless compute service for running small units of code in response to events, requests, or schedules. You focus on writing business logic, while Azure manages the infrastructure.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It is event-driven, which means the function runs only when something happens — for example, an HTTP request arrives, a queue message is received, or a timer schedule is reached.</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Azure Functions is a strong fit for lightweight APIs, background jobs, queue processing, scheduled tasks, and integration workflows, especially when applications need to react to other Azure services.</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Azure Functions also supports multiple languages and flexible hosting options, making it easier to build cloud-native solutions that integrate with services like Service Bus, Event Grid, Storage, and Cosmos DB.</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3884836" y="254773"/>
            <a:ext cx="13200369"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Triggers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668869" y="1778553"/>
            <a:ext cx="9228227" cy="6516616"/>
          </a:xfrm>
          <a:custGeom>
            <a:avLst/>
            <a:gdLst/>
            <a:ahLst/>
            <a:cxnLst/>
            <a:rect l="l" t="t" r="r" b="b"/>
            <a:pathLst>
              <a:path w="9228227" h="6516616">
                <a:moveTo>
                  <a:pt x="0" y="0"/>
                </a:moveTo>
                <a:lnTo>
                  <a:pt x="9228228" y="0"/>
                </a:lnTo>
                <a:lnTo>
                  <a:pt x="9228228" y="6516615"/>
                </a:lnTo>
                <a:lnTo>
                  <a:pt x="0" y="6516615"/>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42984" y="1054100"/>
            <a:ext cx="7575203" cy="87947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 trigger is what starts a function. Every Azure Function must have exactly one trigger, and that trigger defines when the function code should execute.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Triggers are commonly based on events or actions, such as an HTTP request, a new message in Azure Service Bus or Storage Queue, or a Timer schedule.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The trigger often provides input data to the function. For example, an HTTP trigger passes request data, while a queue trigger passes the message payload that needs to be processed.</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Triggers are what make Azure Functions event-driven. Instead of continuously polling or keeping custom background services running, Azure responds automatically when the trigger condition is met.</a:t>
            </a: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3884836" y="254773"/>
            <a:ext cx="13200369"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Triggers vs bindings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205862" y="2147580"/>
            <a:ext cx="10132603" cy="5778561"/>
          </a:xfrm>
          <a:custGeom>
            <a:avLst/>
            <a:gdLst/>
            <a:ahLst/>
            <a:cxnLst/>
            <a:rect l="l" t="t" r="r" b="b"/>
            <a:pathLst>
              <a:path w="10132603" h="5778561">
                <a:moveTo>
                  <a:pt x="0" y="0"/>
                </a:moveTo>
                <a:lnTo>
                  <a:pt x="10132602" y="0"/>
                </a:lnTo>
                <a:lnTo>
                  <a:pt x="10132602" y="5778561"/>
                </a:lnTo>
                <a:lnTo>
                  <a:pt x="0" y="5778561"/>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42984" y="1054100"/>
            <a:ext cx="7575203" cy="835660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Triggers start the function, while bindings connect the function to other services. A simple way to explain it is: the trigger decides when the function runs, and bindings help define what the function reads from or writes to.</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 function has exactly one trigger, but it can have zero, one, or many bindings depending on the scenario. Bindings are optional and help reduce repetitive connection code.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Input bindings bring data into the function from another resource, while output bindings send data out to another resource. For example, a function might be triggered by HTTP and then write a message to Service Bus using an output binding.</a:t>
            </a: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3884836" y="254773"/>
            <a:ext cx="13200369"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What is Azure Service Bus?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80387" y="1426482"/>
            <a:ext cx="10075289" cy="6716860"/>
          </a:xfrm>
          <a:custGeom>
            <a:avLst/>
            <a:gdLst/>
            <a:ahLst/>
            <a:cxnLst/>
            <a:rect l="l" t="t" r="r" b="b"/>
            <a:pathLst>
              <a:path w="10075289" h="6716860">
                <a:moveTo>
                  <a:pt x="0" y="0"/>
                </a:moveTo>
                <a:lnTo>
                  <a:pt x="10075290" y="0"/>
                </a:lnTo>
                <a:lnTo>
                  <a:pt x="10075290" y="6716860"/>
                </a:lnTo>
                <a:lnTo>
                  <a:pt x="0" y="6716860"/>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42984" y="1054100"/>
            <a:ext cx="7575203" cy="79184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Azure Service Bus is a fully managed enterprise message broker that allows applications and services to communicate by exchanging messages.</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Communication is typically asynchronous: the sender places a message into Service Bus and doesn't need to wait for the receiving application to process it immediately.</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Service Bus helps decouple producers and consumers, so the two applications don't need to be running, available, or scaled at exactly the same time.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Service Bus is designed for reliable business messaging, such as orders, payments, inventory changes, background jobs, and communication between distributed services.</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3884836" y="254773"/>
            <a:ext cx="13200369"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What are Decoupled Applications?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67694" y="1410182"/>
            <a:ext cx="10075289" cy="6716860"/>
          </a:xfrm>
          <a:custGeom>
            <a:avLst/>
            <a:gdLst/>
            <a:ahLst/>
            <a:cxnLst/>
            <a:rect l="l" t="t" r="r" b="b"/>
            <a:pathLst>
              <a:path w="10075289" h="6716860">
                <a:moveTo>
                  <a:pt x="0" y="0"/>
                </a:moveTo>
                <a:lnTo>
                  <a:pt x="10075290" y="0"/>
                </a:lnTo>
                <a:lnTo>
                  <a:pt x="10075290" y="6716860"/>
                </a:lnTo>
                <a:lnTo>
                  <a:pt x="0" y="6716860"/>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42984" y="1054100"/>
            <a:ext cx="7575203" cy="79184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Applications are decoupled when components communicate without depending directly on each other's availability or processing speed.</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Instead of Application A calling Application B directly, Application A can place a message onto Service Bus and continue processing.</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The message is stored by Service Bus until the receiving application is ready, meaning the producer and consumer don't have to be online at the same time.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Decoupling makes distributed applications easier to scale, update, and recover from temporary failures because the sender and receiver can operate independently.</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Freeform 8"/>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9" name="Group 9"/>
          <p:cNvGrpSpPr/>
          <p:nvPr/>
        </p:nvGrpSpPr>
        <p:grpSpPr>
          <a:xfrm rot="5400000">
            <a:off x="-543158" y="-1013590"/>
            <a:ext cx="2027179" cy="2027179"/>
            <a:chOff x="0" y="0"/>
            <a:chExt cx="558800" cy="558800"/>
          </a:xfrm>
        </p:grpSpPr>
        <p:sp>
          <p:nvSpPr>
            <p:cNvPr id="10" name="Freeform 10"/>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1" name="TextBox 11"/>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2" name="Freeform 12"/>
          <p:cNvSpPr/>
          <p:nvPr/>
        </p:nvSpPr>
        <p:spPr>
          <a:xfrm>
            <a:off x="51395" y="1450975"/>
            <a:ext cx="10075289" cy="6716860"/>
          </a:xfrm>
          <a:custGeom>
            <a:avLst/>
            <a:gdLst/>
            <a:ahLst/>
            <a:cxnLst/>
            <a:rect l="l" t="t" r="r" b="b"/>
            <a:pathLst>
              <a:path w="10075289" h="6716860">
                <a:moveTo>
                  <a:pt x="0" y="0"/>
                </a:moveTo>
                <a:lnTo>
                  <a:pt x="10075289" y="0"/>
                </a:lnTo>
                <a:lnTo>
                  <a:pt x="10075289" y="6716859"/>
                </a:lnTo>
                <a:lnTo>
                  <a:pt x="0" y="6716859"/>
                </a:lnTo>
                <a:lnTo>
                  <a:pt x="0" y="0"/>
                </a:lnTo>
                <a:close/>
              </a:path>
            </a:pathLst>
          </a:custGeom>
          <a:blipFill>
            <a:blip r:embed="rId3"/>
            <a:stretch>
              <a:fillRect/>
            </a:stretch>
          </a:blipFill>
        </p:spPr>
        <p:txBody>
          <a:bodyPr/>
          <a:lstStyle/>
          <a:p>
            <a:endParaRPr lang="en-AE"/>
          </a:p>
        </p:txBody>
      </p:sp>
      <p:sp>
        <p:nvSpPr>
          <p:cNvPr id="13" name="TextBox 13"/>
          <p:cNvSpPr txBox="1"/>
          <p:nvPr/>
        </p:nvSpPr>
        <p:spPr>
          <a:xfrm>
            <a:off x="2711275" y="302390"/>
            <a:ext cx="13200369"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Azure Service Bus Queues</a:t>
            </a:r>
          </a:p>
        </p:txBody>
      </p:sp>
      <p:sp>
        <p:nvSpPr>
          <p:cNvPr id="14" name="TextBox 14"/>
          <p:cNvSpPr txBox="1"/>
          <p:nvPr/>
        </p:nvSpPr>
        <p:spPr>
          <a:xfrm>
            <a:off x="10126684" y="1355725"/>
            <a:ext cx="7575203" cy="748030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 Service Bus queue implements point-to-point messaging: a producer sends messages to the queue and consumers retrieve those messages for processing.</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Each message is normally processed by one consumer, even when multiple consumers are listening to the same queue.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Messages are stored durably until a receiver is available, allowing the sender and receiver to work independently.</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Multiple competing consumers can process messages from the same queue, allowing workloads to scale out and distribute work across workers.</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Azure Service Bus Topics and Subscriptions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145585" y="1540578"/>
            <a:ext cx="10075289" cy="6716860"/>
          </a:xfrm>
          <a:custGeom>
            <a:avLst/>
            <a:gdLst/>
            <a:ahLst/>
            <a:cxnLst/>
            <a:rect l="l" t="t" r="r" b="b"/>
            <a:pathLst>
              <a:path w="10075289" h="6716860">
                <a:moveTo>
                  <a:pt x="0" y="0"/>
                </a:moveTo>
                <a:lnTo>
                  <a:pt x="10075290" y="0"/>
                </a:lnTo>
                <a:lnTo>
                  <a:pt x="10075290" y="6716860"/>
                </a:lnTo>
                <a:lnTo>
                  <a:pt x="0" y="6716860"/>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26684" y="1355725"/>
            <a:ext cx="7575203" cy="70421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Topics use a publish/subscribe model where publishers send messages to a topic rather than directly to a consumer.</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 topic can have multiple subscriptions, and each subscription can receive its own copy of a published message.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Applications consume messages from the subscription, not directly from the topic; each subscription behaves much like its own queue.</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This allows the same business event to be processed independently by several applications without the publisher knowing who those applications are.</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Filtering Service Bus Topic Subscriptions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161885" y="1545631"/>
            <a:ext cx="10075289" cy="6716860"/>
          </a:xfrm>
          <a:custGeom>
            <a:avLst/>
            <a:gdLst/>
            <a:ahLst/>
            <a:cxnLst/>
            <a:rect l="l" t="t" r="r" b="b"/>
            <a:pathLst>
              <a:path w="10075289" h="6716860">
                <a:moveTo>
                  <a:pt x="0" y="0"/>
                </a:moveTo>
                <a:lnTo>
                  <a:pt x="10075289" y="0"/>
                </a:lnTo>
                <a:lnTo>
                  <a:pt x="10075289" y="6716859"/>
                </a:lnTo>
                <a:lnTo>
                  <a:pt x="0" y="6716859"/>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26684" y="1355725"/>
            <a:ext cx="7575203" cy="835660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By default, a subscription can receive all messages published to its topic, but subscription rules can filter which messages are copied into that subscription.</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SQL filters use SQL-like expressions against message properties and are useful for more complex conditions such as Region = 'UAE' AND Priority &gt; 5.</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Correlation filters efficiently match specific message properties using equality comparisons, making them useful when routing based on known values such as message type or correlation information.</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Filters let multiple consumers share a single topic while receiving only the messages relevant to them, instead of creating a separate topic for every consumer.</a:t>
            </a: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1406525"/>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How messages are received from Azure Service Bus queues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TextBox 13"/>
          <p:cNvSpPr txBox="1"/>
          <p:nvPr/>
        </p:nvSpPr>
        <p:spPr>
          <a:xfrm>
            <a:off x="10126684" y="1355725"/>
            <a:ext cx="7575203" cy="87947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Azure Service Bus supports two receive modes: </a:t>
            </a:r>
            <a:r>
              <a:rPr lang="en-US" sz="2499" dirty="0" err="1">
                <a:solidFill>
                  <a:srgbClr val="202020"/>
                </a:solidFill>
                <a:latin typeface="Calibri (MS)"/>
                <a:ea typeface="Calibri (MS)"/>
                <a:cs typeface="Calibri (MS)"/>
                <a:sym typeface="Calibri (MS)"/>
              </a:rPr>
              <a:t>PeekLock</a:t>
            </a:r>
            <a:r>
              <a:rPr lang="en-US" sz="2499" dirty="0">
                <a:solidFill>
                  <a:srgbClr val="202020"/>
                </a:solidFill>
                <a:latin typeface="Calibri (MS)"/>
                <a:ea typeface="Calibri (MS)"/>
                <a:cs typeface="Calibri (MS)"/>
                <a:sym typeface="Calibri (MS)"/>
              </a:rPr>
              <a:t> and </a:t>
            </a:r>
            <a:r>
              <a:rPr lang="en-US" sz="2499" dirty="0" err="1">
                <a:solidFill>
                  <a:srgbClr val="202020"/>
                </a:solidFill>
                <a:latin typeface="Calibri (MS)"/>
                <a:ea typeface="Calibri (MS)"/>
                <a:cs typeface="Calibri (MS)"/>
                <a:sym typeface="Calibri (MS)"/>
              </a:rPr>
              <a:t>ReceiveAndDelete</a:t>
            </a:r>
            <a:r>
              <a:rPr lang="en-US" sz="2499" dirty="0">
                <a:solidFill>
                  <a:srgbClr val="202020"/>
                </a:solidFill>
                <a:latin typeface="Calibri (MS)"/>
                <a:ea typeface="Calibri (MS)"/>
                <a:cs typeface="Calibri (MS)"/>
                <a:sym typeface="Calibri (MS)"/>
              </a:rPr>
              <a:t>. These modes define what happens to a message when a receiver reads it from the queue. In most business applications, </a:t>
            </a:r>
            <a:r>
              <a:rPr lang="en-US" sz="2499" dirty="0" err="1">
                <a:solidFill>
                  <a:srgbClr val="202020"/>
                </a:solidFill>
                <a:latin typeface="Calibri (MS)"/>
                <a:ea typeface="Calibri (MS)"/>
                <a:cs typeface="Calibri (MS)"/>
                <a:sym typeface="Calibri (MS)"/>
              </a:rPr>
              <a:t>PeekLock</a:t>
            </a:r>
            <a:r>
              <a:rPr lang="en-US" sz="2499" dirty="0">
                <a:solidFill>
                  <a:srgbClr val="202020"/>
                </a:solidFill>
                <a:latin typeface="Calibri (MS)"/>
                <a:ea typeface="Calibri (MS)"/>
                <a:cs typeface="Calibri (MS)"/>
                <a:sym typeface="Calibri (MS)"/>
              </a:rPr>
              <a:t> is the safer and more common mode because it supports reliable processing and retries.</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In </a:t>
            </a:r>
            <a:r>
              <a:rPr lang="en-US" sz="2499" dirty="0" err="1">
                <a:solidFill>
                  <a:srgbClr val="202020"/>
                </a:solidFill>
                <a:latin typeface="Calibri (MS)"/>
                <a:ea typeface="Calibri (MS)"/>
                <a:cs typeface="Calibri (MS)"/>
                <a:sym typeface="Calibri (MS)"/>
              </a:rPr>
              <a:t>PeekLock</a:t>
            </a:r>
            <a:r>
              <a:rPr lang="en-US" sz="2499" dirty="0">
                <a:solidFill>
                  <a:srgbClr val="202020"/>
                </a:solidFill>
                <a:latin typeface="Calibri (MS)"/>
                <a:ea typeface="Calibri (MS)"/>
                <a:cs typeface="Calibri (MS)"/>
                <a:sym typeface="Calibri (MS)"/>
              </a:rPr>
              <a:t> mode, Service Bus sends the message to the receiver and places an exclusive lock on it so that other consumers cannot process the same message at the same time. The message is not removed immediately. The queue or subscription defines the lock duration, and the default lock duration is 1 minute. This can be configured, up to a maximum of 5 minutes, and the receiver can renew the lock if processing takes longer.</a:t>
            </a: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p:txBody>
      </p:sp>
      <p:sp>
        <p:nvSpPr>
          <p:cNvPr id="14" name="Freeform 14"/>
          <p:cNvSpPr/>
          <p:nvPr/>
        </p:nvSpPr>
        <p:spPr>
          <a:xfrm>
            <a:off x="173265" y="2237461"/>
            <a:ext cx="9953420" cy="5598798"/>
          </a:xfrm>
          <a:custGeom>
            <a:avLst/>
            <a:gdLst/>
            <a:ahLst/>
            <a:cxnLst/>
            <a:rect l="l" t="t" r="r" b="b"/>
            <a:pathLst>
              <a:path w="9953420" h="5598798">
                <a:moveTo>
                  <a:pt x="0" y="0"/>
                </a:moveTo>
                <a:lnTo>
                  <a:pt x="9953419" y="0"/>
                </a:lnTo>
                <a:lnTo>
                  <a:pt x="9953419" y="5598799"/>
                </a:lnTo>
                <a:lnTo>
                  <a:pt x="0" y="5598799"/>
                </a:lnTo>
                <a:lnTo>
                  <a:pt x="0" y="0"/>
                </a:lnTo>
                <a:close/>
              </a:path>
            </a:pathLst>
          </a:custGeom>
          <a:blipFill>
            <a:blip r:embed="rId3"/>
            <a:stretch>
              <a:fillRect/>
            </a:stretch>
          </a:blipFill>
        </p:spPr>
        <p:txBody>
          <a:bodyPr/>
          <a:lstStyle/>
          <a:p>
            <a:endParaRPr lang="en-A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randombar(horizontal)">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randombar(horizontal)">
                                      <p:cBhvr>
                                        <p:cTn id="12"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1406525"/>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How messages are received from Azure Service Bus queues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173265" y="2289545"/>
            <a:ext cx="9953420" cy="5598798"/>
          </a:xfrm>
          <a:custGeom>
            <a:avLst/>
            <a:gdLst/>
            <a:ahLst/>
            <a:cxnLst/>
            <a:rect l="l" t="t" r="r" b="b"/>
            <a:pathLst>
              <a:path w="9953420" h="5598798">
                <a:moveTo>
                  <a:pt x="0" y="0"/>
                </a:moveTo>
                <a:lnTo>
                  <a:pt x="9953419" y="0"/>
                </a:lnTo>
                <a:lnTo>
                  <a:pt x="9953419" y="5598799"/>
                </a:lnTo>
                <a:lnTo>
                  <a:pt x="0" y="5598799"/>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26684" y="1355725"/>
            <a:ext cx="7575203" cy="96710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In </a:t>
            </a:r>
            <a:r>
              <a:rPr lang="en-US" sz="2499" dirty="0" err="1">
                <a:solidFill>
                  <a:srgbClr val="202020"/>
                </a:solidFill>
                <a:latin typeface="Calibri (MS)"/>
                <a:ea typeface="Calibri (MS)"/>
                <a:cs typeface="Calibri (MS)"/>
                <a:sym typeface="Calibri (MS)"/>
              </a:rPr>
              <a:t>PeekLock</a:t>
            </a:r>
            <a:r>
              <a:rPr lang="en-US" sz="2499" dirty="0">
                <a:solidFill>
                  <a:srgbClr val="202020"/>
                </a:solidFill>
                <a:latin typeface="Calibri (MS)"/>
                <a:ea typeface="Calibri (MS)"/>
                <a:cs typeface="Calibri (MS)"/>
                <a:sym typeface="Calibri (MS)"/>
              </a:rPr>
              <a:t> mode, the complete flow is: receive the message → process the message → explicitly settle it. If processing succeeds, the receiver must call Complete so Service Bus removes the message from the queue. If processing fails but should be retried, the receiver can Abandon the message, or let the lock expire so the message becomes available again. If the message cannot be processed successfully, it can be dead-lettered for later inspection.</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In </a:t>
            </a:r>
            <a:r>
              <a:rPr lang="en-US" sz="2499" dirty="0" err="1">
                <a:solidFill>
                  <a:srgbClr val="202020"/>
                </a:solidFill>
                <a:latin typeface="Calibri (MS)"/>
                <a:ea typeface="Calibri (MS)"/>
                <a:cs typeface="Calibri (MS)"/>
                <a:sym typeface="Calibri (MS)"/>
              </a:rPr>
              <a:t>ReceiveAndDelete</a:t>
            </a:r>
            <a:r>
              <a:rPr lang="en-US" sz="2499" dirty="0">
                <a:solidFill>
                  <a:srgbClr val="202020"/>
                </a:solidFill>
                <a:latin typeface="Calibri (MS)"/>
                <a:ea typeface="Calibri (MS)"/>
                <a:cs typeface="Calibri (MS)"/>
                <a:sym typeface="Calibri (MS)"/>
              </a:rPr>
              <a:t> mode, the message is considered consumed as soon as Service Bus sends it to the receiver. The receiver does not need to call Complete, but this also means that if processing fails after receipt, the message is lost. This mode is faster and simpler, but it is usually only appropriate for low-value or short-lived data where occasional loss is acceptable.</a:t>
            </a: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Azure Service Bus Dead-Letter Queues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51395" y="1678431"/>
            <a:ext cx="10075289" cy="6716860"/>
          </a:xfrm>
          <a:custGeom>
            <a:avLst/>
            <a:gdLst/>
            <a:ahLst/>
            <a:cxnLst/>
            <a:rect l="l" t="t" r="r" b="b"/>
            <a:pathLst>
              <a:path w="10075289" h="6716860">
                <a:moveTo>
                  <a:pt x="0" y="0"/>
                </a:moveTo>
                <a:lnTo>
                  <a:pt x="10075289" y="0"/>
                </a:lnTo>
                <a:lnTo>
                  <a:pt x="10075289" y="6716859"/>
                </a:lnTo>
                <a:lnTo>
                  <a:pt x="0" y="6716859"/>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26684" y="1355725"/>
            <a:ext cx="7575203" cy="87947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Every Service Bus queue and topic subscription has an associated dead-letter queue (DLQ). It is a special </a:t>
            </a:r>
            <a:r>
              <a:rPr lang="en-US" sz="2499" dirty="0" err="1">
                <a:solidFill>
                  <a:srgbClr val="202020"/>
                </a:solidFill>
                <a:latin typeface="Calibri (MS)"/>
                <a:ea typeface="Calibri (MS)"/>
                <a:cs typeface="Calibri (MS)"/>
                <a:sym typeface="Calibri (MS)"/>
              </a:rPr>
              <a:t>subqueue</a:t>
            </a:r>
            <a:r>
              <a:rPr lang="en-US" sz="2499" dirty="0">
                <a:solidFill>
                  <a:srgbClr val="202020"/>
                </a:solidFill>
                <a:latin typeface="Calibri (MS)"/>
                <a:ea typeface="Calibri (MS)"/>
                <a:cs typeface="Calibri (MS)"/>
                <a:sym typeface="Calibri (MS)"/>
              </a:rPr>
              <a:t> used to isolate messages that cannot be successfully delivered or processed. </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In </a:t>
            </a:r>
            <a:r>
              <a:rPr lang="en-US" sz="2499" dirty="0" err="1">
                <a:solidFill>
                  <a:srgbClr val="202020"/>
                </a:solidFill>
                <a:latin typeface="Calibri (MS)"/>
                <a:ea typeface="Calibri (MS)"/>
                <a:cs typeface="Calibri (MS)"/>
                <a:sym typeface="Calibri (MS)"/>
              </a:rPr>
              <a:t>PeekLock</a:t>
            </a:r>
            <a:r>
              <a:rPr lang="en-US" sz="2499" dirty="0">
                <a:solidFill>
                  <a:srgbClr val="202020"/>
                </a:solidFill>
                <a:latin typeface="Calibri (MS)"/>
                <a:ea typeface="Calibri (MS)"/>
                <a:cs typeface="Calibri (MS)"/>
                <a:sym typeface="Calibri (MS)"/>
              </a:rPr>
              <a:t> mode, repeatedly abandoning a message or allowing its lock to expire increases its delivery count. When the configured </a:t>
            </a:r>
            <a:r>
              <a:rPr lang="en-US" sz="2499" dirty="0" err="1">
                <a:solidFill>
                  <a:srgbClr val="202020"/>
                </a:solidFill>
                <a:latin typeface="Calibri (MS)"/>
                <a:ea typeface="Calibri (MS)"/>
                <a:cs typeface="Calibri (MS)"/>
                <a:sym typeface="Calibri (MS)"/>
              </a:rPr>
              <a:t>MaxDeliveryCount</a:t>
            </a:r>
            <a:r>
              <a:rPr lang="en-US" sz="2499" dirty="0">
                <a:solidFill>
                  <a:srgbClr val="202020"/>
                </a:solidFill>
                <a:latin typeface="Calibri (MS)"/>
                <a:ea typeface="Calibri (MS)"/>
                <a:cs typeface="Calibri (MS)"/>
                <a:sym typeface="Calibri (MS)"/>
              </a:rPr>
              <a:t> is exceeded, Service Bus automatically moves the message to the DLQ. The default maximum delivery count is 10.</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Messages can also be dead-lettered because of conditions such as an expired TTL when dead-lettering on expiration is enabled, missing session information, or subscription rule processing errors. Applications can also explicitly move a message to the DLQ when retrying will not solve the problem.</a:t>
            </a: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Duplicate Message Detection</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51395" y="1565995"/>
            <a:ext cx="10075289" cy="6716860"/>
          </a:xfrm>
          <a:custGeom>
            <a:avLst/>
            <a:gdLst/>
            <a:ahLst/>
            <a:cxnLst/>
            <a:rect l="l" t="t" r="r" b="b"/>
            <a:pathLst>
              <a:path w="10075289" h="6716860">
                <a:moveTo>
                  <a:pt x="0" y="0"/>
                </a:moveTo>
                <a:lnTo>
                  <a:pt x="10075289" y="0"/>
                </a:lnTo>
                <a:lnTo>
                  <a:pt x="10075289" y="6716860"/>
                </a:lnTo>
                <a:lnTo>
                  <a:pt x="0" y="6716860"/>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26684" y="1355725"/>
            <a:ext cx="7575203" cy="704215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Duplicate messages can occur when a sender successfully sends a message but doesn't receive the acknowledgement, causing the application to retry the send because it doesn't know whether the first attempt succeeded.</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Azure Service Bus can enable duplicate detection on a queue or topic. Service Bus records the </a:t>
            </a:r>
            <a:r>
              <a:rPr lang="en-US" sz="2499" dirty="0" err="1">
                <a:solidFill>
                  <a:srgbClr val="202020"/>
                </a:solidFill>
                <a:latin typeface="Calibri (MS)"/>
                <a:ea typeface="Calibri (MS)"/>
                <a:cs typeface="Calibri (MS)"/>
                <a:sym typeface="Calibri (MS)"/>
              </a:rPr>
              <a:t>MessageId</a:t>
            </a:r>
            <a:r>
              <a:rPr lang="en-US" sz="2499" dirty="0">
                <a:solidFill>
                  <a:srgbClr val="202020"/>
                </a:solidFill>
                <a:latin typeface="Calibri (MS)"/>
                <a:ea typeface="Calibri (MS)"/>
                <a:cs typeface="Calibri (MS)"/>
                <a:sym typeface="Calibri (MS)"/>
              </a:rPr>
              <a:t> of recently accepted messages and uses that ID to identify duplicates.</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When another message with the same </a:t>
            </a:r>
            <a:r>
              <a:rPr lang="en-US" sz="2499" dirty="0" err="1">
                <a:solidFill>
                  <a:srgbClr val="202020"/>
                </a:solidFill>
                <a:latin typeface="Calibri (MS)"/>
                <a:ea typeface="Calibri (MS)"/>
                <a:cs typeface="Calibri (MS)"/>
                <a:sym typeface="Calibri (MS)"/>
              </a:rPr>
              <a:t>MessageId</a:t>
            </a:r>
            <a:r>
              <a:rPr lang="en-US" sz="2499" dirty="0">
                <a:solidFill>
                  <a:srgbClr val="202020"/>
                </a:solidFill>
                <a:latin typeface="Calibri (MS)"/>
                <a:ea typeface="Calibri (MS)"/>
                <a:cs typeface="Calibri (MS)"/>
                <a:sym typeface="Calibri (MS)"/>
              </a:rPr>
              <a:t> arrives during the duplicate detection window, Service Bus recognizes it as a duplicate and does not store another copy in the queue or topic.</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What is Azure Event Grid?</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51395" y="1545631"/>
            <a:ext cx="10075289" cy="6716860"/>
          </a:xfrm>
          <a:custGeom>
            <a:avLst/>
            <a:gdLst/>
            <a:ahLst/>
            <a:cxnLst/>
            <a:rect l="l" t="t" r="r" b="b"/>
            <a:pathLst>
              <a:path w="10075289" h="6716860">
                <a:moveTo>
                  <a:pt x="0" y="0"/>
                </a:moveTo>
                <a:lnTo>
                  <a:pt x="10075289" y="0"/>
                </a:lnTo>
                <a:lnTo>
                  <a:pt x="10075289" y="6716859"/>
                </a:lnTo>
                <a:lnTo>
                  <a:pt x="0" y="6716859"/>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26684" y="1355725"/>
            <a:ext cx="7575203" cy="748030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Azure Event Grid is a fully managed publish/subscribe service designed for building event-driven applications. It distributes events from publishers to applications that are interested in those events. </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An event describes something that has happened — for example, a blob was created, a resource changed, or an order was submitted.</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Event Grid can receive events from Azure services or your own applications and route them to one or more destinations, allowing applications to react without tightly coupling the producer to the consumer.</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Common scenarios include serverless architectures, reacting to Azure resource changes, automation, application integration, and event-driven workflows. </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System Topics vs Custom Topics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51395" y="1678431"/>
            <a:ext cx="10075289" cy="6716860"/>
          </a:xfrm>
          <a:custGeom>
            <a:avLst/>
            <a:gdLst/>
            <a:ahLst/>
            <a:cxnLst/>
            <a:rect l="l" t="t" r="r" b="b"/>
            <a:pathLst>
              <a:path w="10075289" h="6716860">
                <a:moveTo>
                  <a:pt x="0" y="0"/>
                </a:moveTo>
                <a:lnTo>
                  <a:pt x="10075289" y="0"/>
                </a:lnTo>
                <a:lnTo>
                  <a:pt x="10075289" y="6716859"/>
                </a:lnTo>
                <a:lnTo>
                  <a:pt x="0" y="6716859"/>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26684" y="1355725"/>
            <a:ext cx="7575203" cy="923290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An Event Grid topic represents a collection of related events and provides the routing point between event publishers and subscribers. Different event subscriptions can listen to the same topic. </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 system topic represents events produced by an Azure service. Services such as Azure Storage, Event Hubs, and Service Bus can act as event sources, with Event Grid exposing their events through system topics.</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 custom topic is created for your own application or integration. Your application explicitly publishes events to the topic's Event Grid endpoint. </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Custom topics are useful for business events such as </a:t>
            </a:r>
            <a:r>
              <a:rPr lang="en-US" sz="2499" dirty="0" err="1">
                <a:solidFill>
                  <a:srgbClr val="202020"/>
                </a:solidFill>
                <a:latin typeface="Calibri (MS)"/>
                <a:ea typeface="Calibri (MS)"/>
                <a:cs typeface="Calibri (MS)"/>
                <a:sym typeface="Calibri (MS)"/>
              </a:rPr>
              <a:t>OrderCreated</a:t>
            </a:r>
            <a:r>
              <a:rPr lang="en-US" sz="2499" dirty="0">
                <a:solidFill>
                  <a:srgbClr val="202020"/>
                </a:solidFill>
                <a:latin typeface="Calibri (MS)"/>
                <a:ea typeface="Calibri (MS)"/>
                <a:cs typeface="Calibri (MS)"/>
                <a:sym typeface="Calibri (MS)"/>
              </a:rPr>
              <a:t>, </a:t>
            </a:r>
            <a:r>
              <a:rPr lang="en-US" sz="2499" dirty="0" err="1">
                <a:solidFill>
                  <a:srgbClr val="202020"/>
                </a:solidFill>
                <a:latin typeface="Calibri (MS)"/>
                <a:ea typeface="Calibri (MS)"/>
                <a:cs typeface="Calibri (MS)"/>
                <a:sym typeface="Calibri (MS)"/>
              </a:rPr>
              <a:t>PaymentReceived</a:t>
            </a:r>
            <a:r>
              <a:rPr lang="en-US" sz="2499" dirty="0">
                <a:solidFill>
                  <a:srgbClr val="202020"/>
                </a:solidFill>
                <a:latin typeface="Calibri (MS)"/>
                <a:ea typeface="Calibri (MS)"/>
                <a:cs typeface="Calibri (MS)"/>
                <a:sym typeface="Calibri (MS)"/>
              </a:rPr>
              <a:t>, or </a:t>
            </a:r>
            <a:r>
              <a:rPr lang="en-US" sz="2499" dirty="0" err="1">
                <a:solidFill>
                  <a:srgbClr val="202020"/>
                </a:solidFill>
                <a:latin typeface="Calibri (MS)"/>
                <a:ea typeface="Calibri (MS)"/>
                <a:cs typeface="Calibri (MS)"/>
                <a:sym typeface="Calibri (MS)"/>
              </a:rPr>
              <a:t>DocumentProcessed</a:t>
            </a:r>
            <a:r>
              <a:rPr lang="en-US" sz="2499" dirty="0">
                <a:solidFill>
                  <a:srgbClr val="202020"/>
                </a:solidFill>
                <a:latin typeface="Calibri (MS)"/>
                <a:ea typeface="Calibri (MS)"/>
                <a:cs typeface="Calibri (MS)"/>
                <a:sym typeface="Calibri (MS)"/>
              </a:rPr>
              <a:t>, allowing multiple applications to react independently.</a:t>
            </a:r>
          </a:p>
          <a:p>
            <a:pPr algn="l">
              <a:lnSpc>
                <a:spcPts val="3499"/>
              </a:lnSpc>
            </a:pPr>
            <a:endParaRPr lang="en-US" sz="2499" dirty="0">
              <a:solidFill>
                <a:srgbClr val="202020"/>
              </a:solidFill>
              <a:latin typeface="Calibri (MS)"/>
              <a:ea typeface="Calibri (MS)"/>
              <a:cs typeface="Calibri (MS)"/>
              <a:sym typeface="Calibri (MS)"/>
            </a:endParaRP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1406525"/>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Event Subscribers, Event Subscriptions and Event Handlers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51395" y="1984635"/>
            <a:ext cx="10075289" cy="6716860"/>
          </a:xfrm>
          <a:custGeom>
            <a:avLst/>
            <a:gdLst/>
            <a:ahLst/>
            <a:cxnLst/>
            <a:rect l="l" t="t" r="r" b="b"/>
            <a:pathLst>
              <a:path w="10075289" h="6716860">
                <a:moveTo>
                  <a:pt x="0" y="0"/>
                </a:moveTo>
                <a:lnTo>
                  <a:pt x="10075289" y="0"/>
                </a:lnTo>
                <a:lnTo>
                  <a:pt x="10075289" y="6716860"/>
                </a:lnTo>
                <a:lnTo>
                  <a:pt x="0" y="6716860"/>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126684" y="1355725"/>
            <a:ext cx="7575203" cy="8356601"/>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 subscriber is an application or service interested in particular events. It doesn't need a direct connection to the publisher; instead, it subscribes through Event Grid. </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An event subscription is the Event Grid configuration that specifies which events should be delivered and where they should be sent. </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Event subscriptions can contain filters, allowing subscribers to receive only relevant events based on properties such as event type or subject.</a:t>
            </a:r>
          </a:p>
          <a:p>
            <a:pPr algn="l">
              <a:lnSpc>
                <a:spcPts val="3499"/>
              </a:lnSpc>
            </a:pPr>
            <a:r>
              <a:rPr lang="en-US" sz="2499" dirty="0">
                <a:solidFill>
                  <a:srgbClr val="202020"/>
                </a:solidFill>
                <a:latin typeface="Calibri (MS)"/>
                <a:ea typeface="Calibri (MS)"/>
                <a:cs typeface="Calibri (MS)"/>
                <a:sym typeface="Calibri (MS)"/>
              </a:rPr>
              <a:t> </a:t>
            </a: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An event handler is the destination that actually receives and processes the event when push delivery is used. Supported handlers include Azure Functions, webhooks, Event Hubs, Service Bus, and Storage queues.</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randombar(horizontal)">
                                      <p:cBhvr>
                                        <p:cTn id="22" dur="500"/>
                                        <p:tgtEl>
                                          <p:spTgt spid="1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9F1"/>
        </a:solidFill>
        <a:effectLst/>
      </p:bgPr>
    </p:bg>
    <p:spTree>
      <p:nvGrpSpPr>
        <p:cNvPr id="1" name=""/>
        <p:cNvGrpSpPr/>
        <p:nvPr/>
      </p:nvGrpSpPr>
      <p:grpSpPr>
        <a:xfrm>
          <a:off x="0" y="0"/>
          <a:ext cx="0" cy="0"/>
          <a:chOff x="0" y="0"/>
          <a:chExt cx="0" cy="0"/>
        </a:xfrm>
      </p:grpSpPr>
      <p:grpSp>
        <p:nvGrpSpPr>
          <p:cNvPr id="2" name="Group 2"/>
          <p:cNvGrpSpPr/>
          <p:nvPr/>
        </p:nvGrpSpPr>
        <p:grpSpPr>
          <a:xfrm>
            <a:off x="-543158" y="9060131"/>
            <a:ext cx="2015169" cy="201516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17B6B"/>
            </a:solidFill>
          </p:spPr>
          <p:txBody>
            <a:bodyPr/>
            <a:lstStyle/>
            <a:p>
              <a:endParaRPr lang="en-AE"/>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rot="-5400000">
            <a:off x="15559421" y="10428713"/>
            <a:ext cx="4016517" cy="2008259"/>
            <a:chOff x="0" y="0"/>
            <a:chExt cx="812800" cy="406400"/>
          </a:xfrm>
        </p:grpSpPr>
        <p:sp>
          <p:nvSpPr>
            <p:cNvPr id="6" name="Freeform 6"/>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FFC700"/>
            </a:solidFill>
            <a:ln w="19050" cap="sq">
              <a:solidFill>
                <a:srgbClr val="FFC700"/>
              </a:solidFill>
              <a:prstDash val="solid"/>
              <a:miter/>
            </a:ln>
          </p:spPr>
          <p:txBody>
            <a:bodyPr/>
            <a:lstStyle/>
            <a:p>
              <a:endParaRPr lang="en-AE"/>
            </a:p>
          </p:txBody>
        </p:sp>
        <p:sp>
          <p:nvSpPr>
            <p:cNvPr id="7" name="TextBox 7"/>
            <p:cNvSpPr txBox="1"/>
            <p:nvPr/>
          </p:nvSpPr>
          <p:spPr>
            <a:xfrm>
              <a:off x="0" y="-28575"/>
              <a:ext cx="812800" cy="434975"/>
            </a:xfrm>
            <a:prstGeom prst="rect">
              <a:avLst/>
            </a:prstGeom>
          </p:spPr>
          <p:txBody>
            <a:bodyPr lIns="50800" tIns="50800" rIns="50800" bIns="50800" rtlCol="0" anchor="ctr"/>
            <a:lstStyle/>
            <a:p>
              <a:pPr algn="ctr">
                <a:lnSpc>
                  <a:spcPts val="1960"/>
                </a:lnSpc>
              </a:pPr>
              <a:endParaRPr/>
            </a:p>
          </p:txBody>
        </p:sp>
      </p:grpSp>
      <p:sp>
        <p:nvSpPr>
          <p:cNvPr id="8" name="TextBox 8"/>
          <p:cNvSpPr txBox="1"/>
          <p:nvPr/>
        </p:nvSpPr>
        <p:spPr>
          <a:xfrm>
            <a:off x="2254890" y="219473"/>
            <a:ext cx="14548025" cy="711200"/>
          </a:xfrm>
          <a:prstGeom prst="rect">
            <a:avLst/>
          </a:prstGeom>
        </p:spPr>
        <p:txBody>
          <a:bodyPr lIns="0" tIns="0" rIns="0" bIns="0" rtlCol="0" anchor="t">
            <a:spAutoFit/>
          </a:bodyPr>
          <a:lstStyle/>
          <a:p>
            <a:pPr algn="l">
              <a:lnSpc>
                <a:spcPts val="5500"/>
              </a:lnSpc>
            </a:pPr>
            <a:r>
              <a:rPr lang="en-US" sz="5000" b="1">
                <a:solidFill>
                  <a:srgbClr val="202020"/>
                </a:solidFill>
                <a:latin typeface="Montserrat Bold"/>
                <a:ea typeface="Montserrat Bold"/>
                <a:cs typeface="Montserrat Bold"/>
                <a:sym typeface="Montserrat Bold"/>
              </a:rPr>
              <a:t>Azure Event Grid vs Azure Service Bus</a:t>
            </a:r>
          </a:p>
        </p:txBody>
      </p:sp>
      <p:sp>
        <p:nvSpPr>
          <p:cNvPr id="9" name="Freeform 9"/>
          <p:cNvSpPr/>
          <p:nvPr/>
        </p:nvSpPr>
        <p:spPr>
          <a:xfrm rot="-10800000">
            <a:off x="16441780" y="-443110"/>
            <a:ext cx="1988740" cy="1988740"/>
          </a:xfrm>
          <a:custGeom>
            <a:avLst/>
            <a:gdLst/>
            <a:ahLst/>
            <a:cxnLst/>
            <a:rect l="l" t="t" r="r" b="b"/>
            <a:pathLst>
              <a:path w="1988740" h="1988740">
                <a:moveTo>
                  <a:pt x="0" y="0"/>
                </a:moveTo>
                <a:lnTo>
                  <a:pt x="1988740" y="0"/>
                </a:lnTo>
                <a:lnTo>
                  <a:pt x="1988740" y="1988741"/>
                </a:lnTo>
                <a:lnTo>
                  <a:pt x="0" y="19887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AE"/>
          </a:p>
        </p:txBody>
      </p:sp>
      <p:grpSp>
        <p:nvGrpSpPr>
          <p:cNvPr id="10" name="Group 10"/>
          <p:cNvGrpSpPr/>
          <p:nvPr/>
        </p:nvGrpSpPr>
        <p:grpSpPr>
          <a:xfrm rot="5400000">
            <a:off x="-543158" y="-1013590"/>
            <a:ext cx="2027179" cy="2027179"/>
            <a:chOff x="0" y="0"/>
            <a:chExt cx="558800" cy="558800"/>
          </a:xfrm>
        </p:grpSpPr>
        <p:sp>
          <p:nvSpPr>
            <p:cNvPr id="11" name="Freeform 11"/>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ln w="38100" cap="sq">
              <a:solidFill>
                <a:srgbClr val="2A2A2B"/>
              </a:solidFill>
              <a:prstDash val="solid"/>
              <a:miter/>
            </a:ln>
          </p:spPr>
          <p:txBody>
            <a:bodyPr/>
            <a:lstStyle/>
            <a:p>
              <a:endParaRPr lang="en-AE"/>
            </a:p>
          </p:txBody>
        </p:sp>
        <p:sp>
          <p:nvSpPr>
            <p:cNvPr id="12" name="TextBox 12"/>
            <p:cNvSpPr txBox="1"/>
            <p:nvPr/>
          </p:nvSpPr>
          <p:spPr>
            <a:xfrm>
              <a:off x="127000" y="98425"/>
              <a:ext cx="304800" cy="333375"/>
            </a:xfrm>
            <a:prstGeom prst="rect">
              <a:avLst/>
            </a:prstGeom>
          </p:spPr>
          <p:txBody>
            <a:bodyPr lIns="50800" tIns="50800" rIns="50800" bIns="50800" rtlCol="0" anchor="ctr"/>
            <a:lstStyle/>
            <a:p>
              <a:pPr algn="ctr">
                <a:lnSpc>
                  <a:spcPts val="1960"/>
                </a:lnSpc>
              </a:pPr>
              <a:endParaRPr/>
            </a:p>
          </p:txBody>
        </p:sp>
      </p:grpSp>
      <p:sp>
        <p:nvSpPr>
          <p:cNvPr id="13" name="Freeform 13"/>
          <p:cNvSpPr/>
          <p:nvPr/>
        </p:nvSpPr>
        <p:spPr>
          <a:xfrm>
            <a:off x="132892" y="1785070"/>
            <a:ext cx="10075289" cy="6716860"/>
          </a:xfrm>
          <a:custGeom>
            <a:avLst/>
            <a:gdLst/>
            <a:ahLst/>
            <a:cxnLst/>
            <a:rect l="l" t="t" r="r" b="b"/>
            <a:pathLst>
              <a:path w="10075289" h="6716860">
                <a:moveTo>
                  <a:pt x="0" y="0"/>
                </a:moveTo>
                <a:lnTo>
                  <a:pt x="10075290" y="0"/>
                </a:lnTo>
                <a:lnTo>
                  <a:pt x="10075290" y="6716860"/>
                </a:lnTo>
                <a:lnTo>
                  <a:pt x="0" y="6716860"/>
                </a:lnTo>
                <a:lnTo>
                  <a:pt x="0" y="0"/>
                </a:lnTo>
                <a:close/>
              </a:path>
            </a:pathLst>
          </a:custGeom>
          <a:blipFill>
            <a:blip r:embed="rId3"/>
            <a:stretch>
              <a:fillRect/>
            </a:stretch>
          </a:blipFill>
        </p:spPr>
        <p:txBody>
          <a:bodyPr/>
          <a:lstStyle/>
          <a:p>
            <a:endParaRPr lang="en-AE"/>
          </a:p>
        </p:txBody>
      </p:sp>
      <p:sp>
        <p:nvSpPr>
          <p:cNvPr id="14" name="TextBox 14"/>
          <p:cNvSpPr txBox="1"/>
          <p:nvPr/>
        </p:nvSpPr>
        <p:spPr>
          <a:xfrm>
            <a:off x="10208182" y="1241628"/>
            <a:ext cx="7575203" cy="8500340"/>
          </a:xfrm>
          <a:prstGeom prst="rect">
            <a:avLst/>
          </a:prstGeom>
        </p:spPr>
        <p:txBody>
          <a:bodyPr lIns="0" tIns="0" rIns="0" bIns="0" rtlCol="0" anchor="t">
            <a:spAutoFit/>
          </a:bodyPr>
          <a:lstStyle/>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Event Grid is designed primarily for reactive event routing. It tells interested consumers that something has. Service Bus is designed for reliable enterprise messaging, where an application sends a message or command that another application is expected to process. </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With Event Grid, the publisher normally has no expectation about how subscribers process the event. With Service Bus, there is typically a stronger sender/consumer contract — for example, </a:t>
            </a:r>
            <a:r>
              <a:rPr lang="en-US" sz="2499" dirty="0" err="1">
                <a:solidFill>
                  <a:srgbClr val="202020"/>
                </a:solidFill>
                <a:latin typeface="Calibri (MS)"/>
                <a:ea typeface="Calibri (MS)"/>
                <a:cs typeface="Calibri (MS)"/>
                <a:sym typeface="Calibri (MS)"/>
              </a:rPr>
              <a:t>ProcessOrder</a:t>
            </a:r>
            <a:r>
              <a:rPr lang="en-US" sz="2499" dirty="0">
                <a:solidFill>
                  <a:srgbClr val="202020"/>
                </a:solidFill>
                <a:latin typeface="Calibri (MS)"/>
                <a:ea typeface="Calibri (MS)"/>
                <a:cs typeface="Calibri (MS)"/>
                <a:sym typeface="Calibri (MS)"/>
              </a:rPr>
              <a:t> is expected to be processed by a worker. </a:t>
            </a:r>
          </a:p>
          <a:p>
            <a:pPr algn="l">
              <a:lnSpc>
                <a:spcPts val="3499"/>
              </a:lnSpc>
            </a:pPr>
            <a:endParaRPr lang="en-US" sz="2499" dirty="0">
              <a:solidFill>
                <a:srgbClr val="202020"/>
              </a:solidFill>
              <a:latin typeface="Calibri (MS)"/>
              <a:ea typeface="Calibri (MS)"/>
              <a:cs typeface="Calibri (MS)"/>
              <a:sym typeface="Calibri (MS)"/>
            </a:endParaRPr>
          </a:p>
          <a:p>
            <a:pPr marL="539749" lvl="1" indent="-269875" algn="l">
              <a:lnSpc>
                <a:spcPts val="3499"/>
              </a:lnSpc>
              <a:buFont typeface="Arial"/>
              <a:buChar char="•"/>
            </a:pPr>
            <a:r>
              <a:rPr lang="en-US" sz="2499" dirty="0">
                <a:solidFill>
                  <a:srgbClr val="202020"/>
                </a:solidFill>
                <a:latin typeface="Calibri (MS)"/>
                <a:ea typeface="Calibri (MS)"/>
                <a:cs typeface="Calibri (MS)"/>
                <a:sym typeface="Calibri (MS)"/>
              </a:rPr>
              <a:t>Event Grid naturally supports event fan-out, allowing many independent handlers to react to the same occurrence. Service Bus supports queues for competing consumers and topics/subscriptions for publish/subscribe messaging.</a:t>
            </a:r>
          </a:p>
          <a:p>
            <a:pPr algn="l">
              <a:lnSpc>
                <a:spcPts val="3499"/>
              </a:lnSpc>
            </a:pPr>
            <a:endParaRPr lang="en-US" sz="2499" dirty="0">
              <a:solidFill>
                <a:srgbClr val="202020"/>
              </a:solidFill>
              <a:latin typeface="Calibri (MS)"/>
              <a:ea typeface="Calibri (MS)"/>
              <a:cs typeface="Calibri (MS)"/>
              <a:sym typeface="Calibri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randombar(horizontal)">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randombar(horizontal)">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randombar(horizontal)">
                                      <p:cBhvr>
                                        <p:cTn id="17" dur="5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TotalTime>
  <Words>1910</Words>
  <Application>Microsoft Office PowerPoint</Application>
  <PresentationFormat>Custom</PresentationFormat>
  <Paragraphs>117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Montserrat Bold</vt:lpstr>
      <vt:lpstr>Calibri (MS)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03. Connect to and consume Azure services</dc:title>
  <cp:lastModifiedBy>Alan Rodrigues</cp:lastModifiedBy>
  <cp:revision>4</cp:revision>
  <dcterms:created xsi:type="dcterms:W3CDTF">2006-08-16T00:00:00Z</dcterms:created>
  <dcterms:modified xsi:type="dcterms:W3CDTF">2026-09-22T09:37:32Z</dcterms:modified>
  <dc:identifier>DAHVh5U54fs</dc:identifier>
</cp:coreProperties>
</file>